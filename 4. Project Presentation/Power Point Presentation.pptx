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4" r:id="rId4"/>
  </p:sldMasterIdLst>
  <p:notesMasterIdLst>
    <p:notesMasterId r:id="rId14"/>
  </p:notesMasterIdLst>
  <p:handoutMasterIdLst>
    <p:handoutMasterId r:id="rId15"/>
  </p:handoutMasterIdLst>
  <p:sldIdLst>
    <p:sldId id="1497" r:id="rId5"/>
    <p:sldId id="1498" r:id="rId6"/>
    <p:sldId id="1514" r:id="rId7"/>
    <p:sldId id="1499" r:id="rId8"/>
    <p:sldId id="1516" r:id="rId9"/>
    <p:sldId id="1513" r:id="rId10"/>
    <p:sldId id="1503" r:id="rId11"/>
    <p:sldId id="1519" r:id="rId12"/>
    <p:sldId id="151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hlan\Downloads\Judith%20Mhlanga\Bright%20Coffee\Final%20Documents\Excel%20Dashboard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hlan\Downloads\Judith%20Mhlanga\Bright%20Coffee\Final%20Documents\Excel%20Dashboard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hlan\Downloads\Judith%20Mhlanga\Bright%20Coffee\Final%20Documents\Excel%20Dashboard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Revenue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Lit>
              <c:ptCount val="6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  <c:pt idx="4">
                <c:v>May</c:v>
              </c:pt>
              <c:pt idx="5">
                <c:v>June</c:v>
              </c:pt>
            </c:strLit>
          </c:cat>
          <c:val>
            <c:numLit>
              <c:formatCode>General</c:formatCode>
              <c:ptCount val="6"/>
              <c:pt idx="0">
                <c:v>81362.889999999505</c:v>
              </c:pt>
              <c:pt idx="1">
                <c:v>75852.539999999397</c:v>
              </c:pt>
              <c:pt idx="2">
                <c:v>98422.629999999946</c:v>
              </c:pt>
              <c:pt idx="3">
                <c:v>118427.48000000045</c:v>
              </c:pt>
              <c:pt idx="4">
                <c:v>156044.66000000268</c:v>
              </c:pt>
              <c:pt idx="5">
                <c:v>165832.93000000311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FD0-411A-A23B-550C18532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138847"/>
        <c:axId val="1776652719"/>
      </c:lineChart>
      <c:catAx>
        <c:axId val="198138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6652719"/>
        <c:crosses val="autoZero"/>
        <c:auto val="1"/>
        <c:lblAlgn val="ctr"/>
        <c:lblOffset val="100"/>
        <c:noMultiLvlLbl val="0"/>
      </c:catAx>
      <c:valAx>
        <c:axId val="1776652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138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[Excel Dashboards.xlsx]Independent Variables!PivotTable12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Transaction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'Independent Variables'!$C$33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'Independent Variables'!$B$34:$B$40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'Independent Variables'!$C$34:$C$40</c:f>
              <c:numCache>
                <c:formatCode>General</c:formatCode>
                <c:ptCount val="6"/>
                <c:pt idx="0">
                  <c:v>17314</c:v>
                </c:pt>
                <c:pt idx="1">
                  <c:v>16359</c:v>
                </c:pt>
                <c:pt idx="2">
                  <c:v>21229</c:v>
                </c:pt>
                <c:pt idx="3">
                  <c:v>25335</c:v>
                </c:pt>
                <c:pt idx="4">
                  <c:v>33527</c:v>
                </c:pt>
                <c:pt idx="5">
                  <c:v>35352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4-4415-AC51-BD9D23C2D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98143487"/>
        <c:axId val="1776580719"/>
      </c:barChart>
      <c:catAx>
        <c:axId val="19814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6580719"/>
        <c:crosses val="autoZero"/>
        <c:auto val="1"/>
        <c:lblAlgn val="ctr"/>
        <c:lblOffset val="100"/>
        <c:noMultiLvlLbl val="0"/>
      </c:catAx>
      <c:valAx>
        <c:axId val="1776580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143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[Excel Dashboards.xlsx]Independent Variables!PivotTable13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Day Of the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'Independent Variables'!$X$33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'Independent Variables'!$W$34:$W$41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'Independent Variables'!$X$34:$X$41</c:f>
              <c:numCache>
                <c:formatCode>General</c:formatCode>
                <c:ptCount val="7"/>
                <c:pt idx="0">
                  <c:v>97923.960000000065</c:v>
                </c:pt>
                <c:pt idx="1">
                  <c:v>101208.53000000006</c:v>
                </c:pt>
                <c:pt idx="2">
                  <c:v>99051.389999999985</c:v>
                </c:pt>
                <c:pt idx="3">
                  <c:v>99956.989999999976</c:v>
                </c:pt>
                <c:pt idx="4">
                  <c:v>100392.62999999987</c:v>
                </c:pt>
                <c:pt idx="5">
                  <c:v>100936.2000000001</c:v>
                </c:pt>
                <c:pt idx="6">
                  <c:v>96473.43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1-4761-9BB2-4CEC240CA1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22540303"/>
        <c:axId val="1776569199"/>
      </c:barChart>
      <c:catAx>
        <c:axId val="422540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6569199"/>
        <c:crosses val="autoZero"/>
        <c:auto val="1"/>
        <c:lblAlgn val="ctr"/>
        <c:lblOffset val="100"/>
        <c:noMultiLvlLbl val="0"/>
      </c:catAx>
      <c:valAx>
        <c:axId val="1776569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2540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27" y="5096040"/>
            <a:ext cx="10963051" cy="761201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328" y="5972629"/>
            <a:ext cx="10963050" cy="519884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615D95-4353-B9DA-619F-62F51763C54C}"/>
              </a:ext>
            </a:extLst>
          </p:cNvPr>
          <p:cNvCxnSpPr>
            <a:cxnSpLocks/>
          </p:cNvCxnSpPr>
          <p:nvPr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DE1B49B-C7C7-46C5-86D1-04B289EB7888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11593671" cy="4723939"/>
          </a:xfrm>
          <a:blipFill dpi="0" rotWithShape="1">
            <a:blip r:embed="rId2">
              <a:alphaModFix amt="60000"/>
            </a:blip>
            <a:srcRect/>
            <a:stretch>
              <a:fillRect l="-1459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488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5A671A-CD1D-3726-5EBC-4251B0B1F630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4196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0032-0FB4-49A9-8F94-A4A948FEFA19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2BC221-6328-07B8-5E00-E12DFAC6BF4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07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2214" y="1001716"/>
            <a:ext cx="4545750" cy="3358242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2214" y="4740957"/>
            <a:ext cx="4545749" cy="1482043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62B492-23F8-09B4-BA81-5C910AC15279}"/>
              </a:ext>
            </a:extLst>
          </p:cNvPr>
          <p:cNvCxnSpPr>
            <a:cxnSpLocks/>
          </p:cNvCxnSpPr>
          <p:nvPr/>
        </p:nvCxnSpPr>
        <p:spPr>
          <a:xfrm>
            <a:off x="6754068" y="164150"/>
            <a:ext cx="5437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80"/>
            <a:ext cx="1494476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806314-2923-4BCD-81C6-1762557E3AD1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5986622" cy="6858000"/>
          </a:xfrm>
          <a:blipFill dpi="0" rotWithShape="1">
            <a:blip r:embed="rId2">
              <a:alphaModFix amt="60000"/>
            </a:blip>
            <a:srcRect/>
            <a:stretch>
              <a:fillRect l="-2824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80DD37-AA75-5265-3DD3-EADFD5870C34}"/>
              </a:ext>
            </a:extLst>
          </p:cNvPr>
          <p:cNvCxnSpPr>
            <a:cxnSpLocks/>
          </p:cNvCxnSpPr>
          <p:nvPr userDrawn="1"/>
        </p:nvCxnSpPr>
        <p:spPr>
          <a:xfrm>
            <a:off x="675406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FEC9D1-6B65-BD86-B34E-71F8F5629EE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32" y="1001715"/>
            <a:ext cx="4724078" cy="2980051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31" y="4362766"/>
            <a:ext cx="4724077" cy="1860234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F22791-F1DC-82EE-574A-946C4F39A8F5}"/>
              </a:ext>
            </a:extLst>
          </p:cNvPr>
          <p:cNvCxnSpPr>
            <a:cxnSpLocks/>
          </p:cNvCxnSpPr>
          <p:nvPr userDrawn="1"/>
        </p:nvCxnSpPr>
        <p:spPr>
          <a:xfrm>
            <a:off x="429209" y="164150"/>
            <a:ext cx="5140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2067733" y="2231455"/>
            <a:ext cx="4564378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-537354" y="5265452"/>
            <a:ext cx="1494475" cy="420624"/>
          </a:xfrm>
        </p:spPr>
        <p:txBody>
          <a:bodyPr/>
          <a:lstStyle/>
          <a:p>
            <a:fld id="{D1BD44EB-637E-42FE-BCB7-7CFC0B1C3376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-429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65246" y="0"/>
            <a:ext cx="6426753" cy="6858000"/>
          </a:xfrm>
          <a:blipFill dpi="0" rotWithShape="1">
            <a:blip r:embed="rId2">
              <a:alphaModFix amt="60000"/>
            </a:blip>
            <a:srcRect/>
            <a:stretch>
              <a:fillRect l="-263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C9DC64-28F1-DE35-BA93-42BE9EDD8B26}"/>
              </a:ext>
            </a:extLst>
          </p:cNvPr>
          <p:cNvCxnSpPr>
            <a:cxnSpLocks/>
          </p:cNvCxnSpPr>
          <p:nvPr userDrawn="1"/>
        </p:nvCxnSpPr>
        <p:spPr>
          <a:xfrm>
            <a:off x="55696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A3CE87-786A-4910-E740-1852BBC75C5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5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7538423" cy="3457299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1" y="4728526"/>
            <a:ext cx="6595444" cy="1494473"/>
          </a:xfrm>
        </p:spPr>
        <p:txBody>
          <a:bodyPr anchor="b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D58296-262D-E3A1-3EDA-108D59ADDEB9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F719-9770-4838-A1BF-8640CFA44CC3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C82B15-2BAA-B79D-562D-AB6EE143DF7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53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8095015" cy="3361051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4"/>
            <a:ext cx="7538424" cy="112776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7A912A-256D-661B-C181-034D06ED868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92B4-CE1A-4C71-BEF0-93A2274B672B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C649EA-F1C7-472F-52D7-A93BB7EC19B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311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404262"/>
            <a:ext cx="7924802" cy="2577504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9980" y="4353867"/>
            <a:ext cx="7152034" cy="112141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FC45B0-B1A3-3E44-43D7-C15E5073EEB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A5E0-7ACA-4081-A937-2CF1CEC074EB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EA1CDC-959E-33FA-9AF1-75DB91B6A96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1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478" y="1748475"/>
            <a:ext cx="10924476" cy="4730749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27FB5B-F1F4-96F1-0152-318F0A4000BC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626840-FA11-4374-BE46-30DF1EAD92F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593392-0733-4701-8F74-B58075202E2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924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3"/>
            <a:ext cx="5702371" cy="4855527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807522-A1BC-0AAD-E7B4-C948DF50EAC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8506C6-7398-25A3-A121-87E3BF8366E4}"/>
              </a:ext>
            </a:extLst>
          </p:cNvPr>
          <p:cNvCxnSpPr>
            <a:cxnSpLocks/>
          </p:cNvCxnSpPr>
          <p:nvPr userDrawn="1"/>
        </p:nvCxnSpPr>
        <p:spPr>
          <a:xfrm>
            <a:off x="654122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4D0019-5D4E-18AB-5653-979E0D7032FB}"/>
              </a:ext>
            </a:extLst>
          </p:cNvPr>
          <p:cNvCxnSpPr>
            <a:cxnSpLocks/>
          </p:cNvCxnSpPr>
          <p:nvPr userDrawn="1"/>
        </p:nvCxnSpPr>
        <p:spPr>
          <a:xfrm>
            <a:off x="6541227" y="164150"/>
            <a:ext cx="56507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AAB3-9B5A-4636-BF0B-2B99D42F5638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24097" y="1001713"/>
            <a:ext cx="4333859" cy="4855527"/>
          </a:xfrm>
        </p:spPr>
        <p:txBody>
          <a:bodyPr anchor="ctr">
            <a:normAutofit/>
          </a:bodyPr>
          <a:lstStyle>
            <a:lvl1pPr marL="457200" indent="-457200" algn="l">
              <a:buFont typeface="+mj-lt"/>
              <a:buAutoNum type="arabicPeriod"/>
              <a:defRPr sz="1600"/>
            </a:lvl1pPr>
            <a:lvl2pPr marL="685800" indent="-457200" algn="l">
              <a:buFont typeface="+mj-lt"/>
              <a:buAutoNum type="arabicPeriod"/>
              <a:defRPr sz="1600"/>
            </a:lvl2pPr>
            <a:lvl3pPr marL="800100" indent="-342900" algn="l">
              <a:buFont typeface="+mj-lt"/>
              <a:buAutoNum type="arabicPeriod"/>
              <a:defRPr sz="1600"/>
            </a:lvl3pPr>
            <a:lvl4pPr marL="1028700" indent="-342900" algn="l">
              <a:buFont typeface="+mj-lt"/>
              <a:buAutoNum type="arabicPeriod"/>
              <a:defRPr sz="1600"/>
            </a:lvl4pPr>
            <a:lvl5pPr marL="1257300" indent="-342900" algn="l"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47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419" y="1001716"/>
            <a:ext cx="4796545" cy="150337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92E087-D311-16FB-DFD8-7DFD79458D0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4150"/>
            <a:ext cx="60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3" y="5260880"/>
            <a:ext cx="1494474" cy="429768"/>
          </a:xfrm>
        </p:spPr>
        <p:txBody>
          <a:bodyPr/>
          <a:lstStyle/>
          <a:p>
            <a:fld id="{569377BB-3A7F-48AE-8949-DF715FC88965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8329" y="0"/>
            <a:ext cx="533103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6581" y="2886088"/>
            <a:ext cx="4781383" cy="3336912"/>
          </a:xfrm>
        </p:spPr>
        <p:txBody>
          <a:bodyPr anchor="b">
            <a:normAutofit/>
          </a:bodyPr>
          <a:lstStyle>
            <a:lvl1pPr marL="0" indent="0">
              <a:buFont typeface="+mj-lt"/>
              <a:buNone/>
              <a:defRPr sz="16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1EF905-FBC0-6AEE-DA7E-A6361F7EF6BB}"/>
              </a:ext>
            </a:extLst>
          </p:cNvPr>
          <p:cNvCxnSpPr>
            <a:cxnSpLocks/>
          </p:cNvCxnSpPr>
          <p:nvPr userDrawn="1"/>
        </p:nvCxnSpPr>
        <p:spPr>
          <a:xfrm>
            <a:off x="609904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C5A10F-4276-544F-CA8D-14E3EDCA493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567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496190"/>
            <a:ext cx="4714881" cy="22323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0124F2-891B-DC7A-86AD-C038AE8A649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5C65A-63EB-4D03-A77A-34D9179F227E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96190"/>
            <a:ext cx="4325112" cy="22323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1D8F17-EF76-0E40-74BF-199C6164260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735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133757"/>
            <a:ext cx="4328497" cy="372883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B3FC25-52BF-D39B-F6D8-ACD115F19721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56B-F59C-4C90-B2BF-52C692BF43D0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2129475"/>
            <a:ext cx="5266077" cy="372776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054AC9-7FE7-AA63-76C1-0BB3E059FCEA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022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381759"/>
            <a:ext cx="4358311" cy="484124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35D4DD-0247-2268-9444-EBEAF09126E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B20-6D77-4E10-9C9F-10A32026F483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78726" y="1381759"/>
            <a:ext cx="5622648" cy="484124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2B1FAB-0434-52D4-45F7-F1C56FA427F8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729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328497" cy="4855526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BBE18-C792-4A63-8F5A-CED2F5653C9B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3174" y="1001714"/>
            <a:ext cx="5118206" cy="4855527"/>
          </a:xfr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F4B9D1-5247-53CB-C1FC-9E3459BF16C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3F8E40-0F32-5592-0885-55CEBFBDF0AB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138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900433"/>
            <a:ext cx="3771900" cy="5221285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E55-CD3E-4D87-9041-7A8452BD5273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900432"/>
            <a:ext cx="6209054" cy="5221285"/>
          </a:xfr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7E8DAF-8174-2859-E029-6F85464CAC9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228395-2719-9A44-CE27-6CFD8BD848E8}"/>
              </a:ext>
            </a:extLst>
          </p:cNvPr>
          <p:cNvCxnSpPr>
            <a:cxnSpLocks/>
          </p:cNvCxnSpPr>
          <p:nvPr userDrawn="1"/>
        </p:nvCxnSpPr>
        <p:spPr>
          <a:xfrm>
            <a:off x="4883705" y="164150"/>
            <a:ext cx="73082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83E6F6-12DD-3AC0-8C59-D6E9DEDA1456}"/>
              </a:ext>
            </a:extLst>
          </p:cNvPr>
          <p:cNvCxnSpPr>
            <a:cxnSpLocks/>
          </p:cNvCxnSpPr>
          <p:nvPr userDrawn="1"/>
        </p:nvCxnSpPr>
        <p:spPr>
          <a:xfrm>
            <a:off x="488370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441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3785" y="1001715"/>
            <a:ext cx="6444179" cy="112237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4" y="5260879"/>
            <a:ext cx="1494475" cy="429768"/>
          </a:xfrm>
        </p:spPr>
        <p:txBody>
          <a:bodyPr/>
          <a:lstStyle/>
          <a:p>
            <a:fld id="{B44ACCC6-A2BA-4B7B-99B4-E62BB5424C67}" type="datetime1">
              <a:rPr lang="en-US" smtClean="0"/>
              <a:t>9/29/2026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3207AA-DF92-4449-9316-61475F014448}"/>
              </a:ext>
            </a:extLst>
          </p:cNvPr>
          <p:cNvCxnSpPr>
            <a:cxnSpLocks/>
          </p:cNvCxnSpPr>
          <p:nvPr userDrawn="1"/>
        </p:nvCxnSpPr>
        <p:spPr>
          <a:xfrm>
            <a:off x="4918159" y="164150"/>
            <a:ext cx="72738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1"/>
            <a:ext cx="4124206" cy="6858000"/>
          </a:xfrm>
          <a:blipFill dpi="0" rotWithShape="1">
            <a:blip r:embed="rId2">
              <a:alphaModFix amt="60000"/>
            </a:blip>
            <a:srcRect/>
            <a:stretch>
              <a:fillRect l="-2278" r="-669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13785" y="2496190"/>
            <a:ext cx="6444179" cy="3726810"/>
          </a:xfrm>
        </p:spPr>
        <p:txBody>
          <a:bodyPr>
            <a:normAutofit/>
          </a:bodyPr>
          <a:lstStyle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4805F9-D010-6E54-928C-1EBB88CBA9D3}"/>
              </a:ext>
            </a:extLst>
          </p:cNvPr>
          <p:cNvCxnSpPr>
            <a:cxnSpLocks/>
          </p:cNvCxnSpPr>
          <p:nvPr userDrawn="1"/>
        </p:nvCxnSpPr>
        <p:spPr>
          <a:xfrm>
            <a:off x="491815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A487952-A86B-7C85-B4C5-3B9E9DED85A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290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5647085" cy="1122375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341E3BD6-1BE7-4293-98B0-C8B456DEC98E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7BDF5B-E352-4558-1EFA-37F504BFE32E}"/>
              </a:ext>
            </a:extLst>
          </p:cNvPr>
          <p:cNvCxnSpPr>
            <a:cxnSpLocks/>
          </p:cNvCxnSpPr>
          <p:nvPr userDrawn="1"/>
        </p:nvCxnSpPr>
        <p:spPr>
          <a:xfrm>
            <a:off x="429208" y="164150"/>
            <a:ext cx="66311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496190"/>
            <a:ext cx="5647085" cy="372681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24097" y="0"/>
            <a:ext cx="4967903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2BFE52-C7C3-A7E3-F6D9-EDECDF40EF56}"/>
              </a:ext>
            </a:extLst>
          </p:cNvPr>
          <p:cNvCxnSpPr>
            <a:cxnSpLocks/>
          </p:cNvCxnSpPr>
          <p:nvPr userDrawn="1"/>
        </p:nvCxnSpPr>
        <p:spPr>
          <a:xfrm>
            <a:off x="70603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C0473F-E6DB-D181-43D0-0D5C945184B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434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306" y="1001715"/>
            <a:ext cx="6740655" cy="1087887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4" y="5260879"/>
            <a:ext cx="1494474" cy="429768"/>
          </a:xfrm>
        </p:spPr>
        <p:txBody>
          <a:bodyPr/>
          <a:lstStyle/>
          <a:p>
            <a:fld id="{12B94328-6471-48ED-A3E9-D3E8C4DB1679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A26726-2193-5028-87FF-55119A73A643}"/>
              </a:ext>
            </a:extLst>
          </p:cNvPr>
          <p:cNvCxnSpPr>
            <a:cxnSpLocks/>
          </p:cNvCxnSpPr>
          <p:nvPr userDrawn="1"/>
        </p:nvCxnSpPr>
        <p:spPr>
          <a:xfrm>
            <a:off x="4634939" y="164150"/>
            <a:ext cx="75570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0"/>
            <a:ext cx="3854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17311" y="2496190"/>
            <a:ext cx="6740654" cy="372681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AA0E72-1F2C-EAE4-77B7-9FF7C88D21DD}"/>
              </a:ext>
            </a:extLst>
          </p:cNvPr>
          <p:cNvCxnSpPr>
            <a:cxnSpLocks/>
          </p:cNvCxnSpPr>
          <p:nvPr userDrawn="1"/>
        </p:nvCxnSpPr>
        <p:spPr>
          <a:xfrm>
            <a:off x="463493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A80D3F-C3CE-0859-0D1F-594C0503DBAA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514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28130"/>
            <a:ext cx="6595448" cy="1113475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649CF-C20C-7376-D09A-88A289B7A347}"/>
              </a:ext>
            </a:extLst>
          </p:cNvPr>
          <p:cNvCxnSpPr>
            <a:cxnSpLocks/>
          </p:cNvCxnSpPr>
          <p:nvPr userDrawn="1"/>
        </p:nvCxnSpPr>
        <p:spPr>
          <a:xfrm>
            <a:off x="429208" y="164150"/>
            <a:ext cx="7479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1368BACD-07D9-459F-AA1C-5268AE32178F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24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1" y="2496190"/>
            <a:ext cx="6595448" cy="372680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13312" y="0"/>
            <a:ext cx="4283768" cy="6858000"/>
          </a:xfrm>
          <a:blipFill dpi="0" rotWithShape="1">
            <a:blip r:embed="rId2">
              <a:alphaModFix amt="60000"/>
            </a:blip>
            <a:srcRect/>
            <a:stretch>
              <a:fillRect l="1" t="-1" r="1" b="-4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030F47-B045-036A-B67B-EF84DE9E2A8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2218E5-4B7E-010A-02DF-6951A1023B10}"/>
              </a:ext>
            </a:extLst>
          </p:cNvPr>
          <p:cNvCxnSpPr>
            <a:cxnSpLocks/>
          </p:cNvCxnSpPr>
          <p:nvPr userDrawn="1"/>
        </p:nvCxnSpPr>
        <p:spPr>
          <a:xfrm>
            <a:off x="7908800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70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259" y="1001715"/>
            <a:ext cx="4717705" cy="1109672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1666" y="5260191"/>
            <a:ext cx="149309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92A769-D4A9-4BBF-AD73-A3AD41FBB7C3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4E0F01-74F8-4E05-0BF9-107555BA139C}"/>
              </a:ext>
            </a:extLst>
          </p:cNvPr>
          <p:cNvCxnSpPr>
            <a:cxnSpLocks/>
          </p:cNvCxnSpPr>
          <p:nvPr userDrawn="1"/>
        </p:nvCxnSpPr>
        <p:spPr>
          <a:xfrm>
            <a:off x="6624761" y="164150"/>
            <a:ext cx="55672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0"/>
            <a:ext cx="584350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07693" y="2492387"/>
            <a:ext cx="4750271" cy="373061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85E70CC-C7D7-B9CE-493E-0579781D2D31}"/>
              </a:ext>
            </a:extLst>
          </p:cNvPr>
          <p:cNvCxnSpPr>
            <a:cxnSpLocks/>
          </p:cNvCxnSpPr>
          <p:nvPr userDrawn="1"/>
        </p:nvCxnSpPr>
        <p:spPr>
          <a:xfrm>
            <a:off x="662476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830231-922B-910E-CA0F-2B635AE5E80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8659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2" y="1001715"/>
            <a:ext cx="4714880" cy="1125536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71905" y="2231455"/>
            <a:ext cx="456437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6954" y="5260879"/>
            <a:ext cx="1494474" cy="429768"/>
          </a:xfrm>
        </p:spPr>
        <p:txBody>
          <a:bodyPr/>
          <a:lstStyle/>
          <a:p>
            <a:fld id="{2DF6CB4C-CEEE-488F-A556-6D160C723A2D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4601" y="6492240"/>
            <a:ext cx="42920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12D87E-65D6-AA23-C2F1-6ACD679648B1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5287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1" y="2493965"/>
            <a:ext cx="4714880" cy="37290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8095" y="-1"/>
            <a:ext cx="6303905" cy="688899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C1A446-6BAE-22CC-E376-C7034DBFDE71}"/>
              </a:ext>
            </a:extLst>
          </p:cNvPr>
          <p:cNvCxnSpPr>
            <a:cxnSpLocks/>
          </p:cNvCxnSpPr>
          <p:nvPr userDrawn="1"/>
        </p:nvCxnSpPr>
        <p:spPr>
          <a:xfrm>
            <a:off x="5718976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047466-B04C-40AF-946A-45572220C73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8555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3504" y="1001715"/>
            <a:ext cx="4444457" cy="112237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79"/>
            <a:ext cx="1494473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52FFD6-A518-49CA-8126-283C2A8EFE6F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B378FF-8198-DC37-BA5B-473DEDD75988}"/>
              </a:ext>
            </a:extLst>
          </p:cNvPr>
          <p:cNvCxnSpPr>
            <a:cxnSpLocks/>
          </p:cNvCxnSpPr>
          <p:nvPr userDrawn="1"/>
        </p:nvCxnSpPr>
        <p:spPr>
          <a:xfrm>
            <a:off x="6934701" y="164150"/>
            <a:ext cx="52572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6154001" cy="6858000"/>
          </a:xfrm>
          <a:blipFill dpi="0" rotWithShape="1">
            <a:blip r:embed="rId2">
              <a:alphaModFix amt="60000"/>
            </a:blip>
            <a:srcRect/>
            <a:stretch>
              <a:fillRect l="-2748" r="-274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3505" y="2496190"/>
            <a:ext cx="4444460" cy="372680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4E56D6-14F7-4AF8-BCF3-2B60F1174250}"/>
              </a:ext>
            </a:extLst>
          </p:cNvPr>
          <p:cNvCxnSpPr>
            <a:cxnSpLocks/>
          </p:cNvCxnSpPr>
          <p:nvPr userDrawn="1"/>
        </p:nvCxnSpPr>
        <p:spPr>
          <a:xfrm>
            <a:off x="693470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D24FBA-09F1-E77D-0C3E-A914CBD5F4F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851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520" y="1001715"/>
            <a:ext cx="4687174" cy="112775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4711" y="2231455"/>
            <a:ext cx="456437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29760" y="5260879"/>
            <a:ext cx="1494474" cy="429768"/>
          </a:xfrm>
        </p:spPr>
        <p:txBody>
          <a:bodyPr/>
          <a:lstStyle/>
          <a:p>
            <a:fld id="{BDA16E6D-ABB3-4B84-99F2-E42A2B9DF2C2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93" y="649287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838F21-75ED-E44B-42EB-FC7FE5E930B5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54726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496181"/>
            <a:ext cx="4714880" cy="372681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5999" cy="6858000"/>
          </a:xfrm>
          <a:blipFill dpi="0" rotWithShape="1">
            <a:blip r:embed="rId2">
              <a:alphaModFix amt="60000"/>
            </a:blip>
            <a:srcRect/>
            <a:stretch>
              <a:fillRect l="-2925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F9AEDF6-9814-FD08-73EB-63D58BF776EA}"/>
              </a:ext>
            </a:extLst>
          </p:cNvPr>
          <p:cNvCxnSpPr>
            <a:cxnSpLocks/>
          </p:cNvCxnSpPr>
          <p:nvPr userDrawn="1"/>
        </p:nvCxnSpPr>
        <p:spPr>
          <a:xfrm>
            <a:off x="590446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8CA044-325A-12D3-37BC-BDCEBBC342C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621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767" y="1001715"/>
            <a:ext cx="3778198" cy="1108746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1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D67C4704-4F96-4DFD-9156-648F64A4FFD5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" y="6492513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9841FB-35AF-1919-0953-5642770662AC}"/>
              </a:ext>
            </a:extLst>
          </p:cNvPr>
          <p:cNvCxnSpPr>
            <a:cxnSpLocks/>
          </p:cNvCxnSpPr>
          <p:nvPr userDrawn="1"/>
        </p:nvCxnSpPr>
        <p:spPr>
          <a:xfrm>
            <a:off x="7597395" y="164150"/>
            <a:ext cx="45946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9" y="0"/>
            <a:ext cx="6816696" cy="6858000"/>
          </a:xfrm>
          <a:blipFill dpi="0" rotWithShape="1">
            <a:blip r:embed="rId2">
              <a:alphaModFix amt="60000"/>
            </a:blip>
            <a:srcRect/>
            <a:stretch>
              <a:fillRect l="-2482" r="-248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9767" y="2515205"/>
            <a:ext cx="3778198" cy="375938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8AE5DC-7AFC-CD99-8A67-46A580A7DEFE}"/>
              </a:ext>
            </a:extLst>
          </p:cNvPr>
          <p:cNvCxnSpPr>
            <a:cxnSpLocks/>
          </p:cNvCxnSpPr>
          <p:nvPr userDrawn="1"/>
        </p:nvCxnSpPr>
        <p:spPr>
          <a:xfrm>
            <a:off x="759739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A6662-88AA-A191-B6D5-4B6DF99C8B1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946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49" y="1001715"/>
            <a:ext cx="3401568" cy="112776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2638" y="2236683"/>
            <a:ext cx="4553921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80"/>
            <a:ext cx="1494476" cy="429768"/>
          </a:xfrm>
        </p:spPr>
        <p:txBody>
          <a:bodyPr/>
          <a:lstStyle/>
          <a:p>
            <a:fld id="{33B50C95-85D9-49F9-99D8-E6845F008D35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4DF952-8FA0-48F5-F7EF-53D541404A33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3800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48" y="2491461"/>
            <a:ext cx="3401567" cy="3731539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4499" y="0"/>
            <a:ext cx="7962582" cy="6858000"/>
          </a:xfrm>
          <a:blipFill dpi="0" rotWithShape="1">
            <a:blip r:embed="rId2">
              <a:alphaModFix amt="60000"/>
            </a:blip>
            <a:srcRect/>
            <a:stretch>
              <a:fillRect l="-5169" r="2"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6E75C3-3D50-62F4-97A1-08D85ABC212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D9DCC5-4A76-A29C-BDAD-62E571E6267E}"/>
              </a:ext>
            </a:extLst>
          </p:cNvPr>
          <p:cNvCxnSpPr>
            <a:cxnSpLocks/>
          </p:cNvCxnSpPr>
          <p:nvPr userDrawn="1"/>
        </p:nvCxnSpPr>
        <p:spPr>
          <a:xfrm>
            <a:off x="423200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0691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541" y="1001716"/>
            <a:ext cx="3565637" cy="149447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2" y="2231455"/>
            <a:ext cx="4564377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1" y="5260879"/>
            <a:ext cx="1494474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7B02D44-18E2-46EB-BF95-C6E9788E5887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11B3B1-9941-4785-B418-08EF9E3BB704}"/>
              </a:ext>
            </a:extLst>
          </p:cNvPr>
          <p:cNvCxnSpPr>
            <a:cxnSpLocks/>
          </p:cNvCxnSpPr>
          <p:nvPr userDrawn="1"/>
        </p:nvCxnSpPr>
        <p:spPr>
          <a:xfrm>
            <a:off x="7794617" y="164150"/>
            <a:ext cx="43973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7013917" cy="6858000"/>
          </a:xfrm>
          <a:blipFill dpi="0" rotWithShape="1">
            <a:blip r:embed="rId2">
              <a:alphaModFix amt="60000"/>
            </a:blip>
            <a:srcRect/>
            <a:stretch>
              <a:fillRect l="-2411" r="-241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6991" y="2877189"/>
            <a:ext cx="3576275" cy="334581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FE4EE6-FDB8-6541-5FC6-4FC24B421584}"/>
              </a:ext>
            </a:extLst>
          </p:cNvPr>
          <p:cNvCxnSpPr>
            <a:cxnSpLocks/>
          </p:cNvCxnSpPr>
          <p:nvPr userDrawn="1"/>
        </p:nvCxnSpPr>
        <p:spPr>
          <a:xfrm>
            <a:off x="779461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A42A28-5C2F-9093-B5D9-C2651F290DF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43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8" y="5109524"/>
            <a:ext cx="4364200" cy="1113476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0CC-5553-421C-8D81-3F82FF869EDA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11593671" cy="4728524"/>
          </a:xfrm>
          <a:blipFill dpi="0" rotWithShape="1">
            <a:blip r:embed="rId2">
              <a:alphaModFix amt="60000"/>
            </a:blip>
            <a:srcRect/>
            <a:stretch>
              <a:fillRect l="-1459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9523"/>
            <a:ext cx="6208724" cy="111347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7E7B67-A585-C4C0-BD50-861ED489B13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576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8" y="4362766"/>
            <a:ext cx="3421224" cy="1860234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576-EC94-4DB5-9187-19A5D0382B7E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11593671" cy="3981766"/>
          </a:xfrm>
          <a:blipFill dpi="0" rotWithShape="1">
            <a:blip r:embed="rId2">
              <a:alphaModFix amt="60000"/>
            </a:blip>
            <a:srcRect/>
            <a:stretch>
              <a:fillRect l="-1459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4353867"/>
            <a:ext cx="7152028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600"/>
            </a:lvl3pPr>
            <a:lvl4pPr marL="857250" indent="-171450">
              <a:buFont typeface="Arial" panose="020B0604020202020204" pitchFamily="34" charset="0"/>
              <a:buChar char="•"/>
              <a:defRPr sz="1600"/>
            </a:lvl4pPr>
            <a:lvl5pPr marL="10858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F2A9F8-8F3B-3616-48B8-F8DA72A7134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9701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56BFCD-3259-DDE7-5625-EE56190B8F62}"/>
              </a:ext>
            </a:extLst>
          </p:cNvPr>
          <p:cNvCxnSpPr>
            <a:cxnSpLocks/>
          </p:cNvCxnSpPr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764" y="1001714"/>
            <a:ext cx="3390788" cy="187547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73146" y="2231455"/>
            <a:ext cx="4564377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8191" y="5260876"/>
            <a:ext cx="1494468" cy="429768"/>
          </a:xfrm>
        </p:spPr>
        <p:txBody>
          <a:bodyPr/>
          <a:lstStyle/>
          <a:p>
            <a:fld id="{1E853955-1D07-4B51-BC71-D8BE10C22200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5842" y="649287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1001714"/>
            <a:ext cx="7152028" cy="1875475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600"/>
            </a:lvl3pPr>
            <a:lvl4pPr marL="857250" indent="-171450">
              <a:buFont typeface="Arial" panose="020B0604020202020204" pitchFamily="34" charset="0"/>
              <a:buChar char="•"/>
              <a:defRPr sz="1600"/>
            </a:lvl4pPr>
            <a:lvl5pPr marL="10858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3258188"/>
            <a:ext cx="11593670" cy="3599811"/>
          </a:xfrm>
          <a:blipFill dpi="0" rotWithShape="1">
            <a:blip r:embed="rId2">
              <a:alphaModFix amt="60000"/>
            </a:blip>
            <a:srcRect/>
            <a:stretch>
              <a:fillRect l="-121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378E9B-0BD2-F103-F591-68E71F4480E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8740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F82DAF-8C88-BCF8-3DCD-BA0110CC6BB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10923933" cy="746752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E46-11CA-4696-94A6-42FA6258F836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5652468" cy="4093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29475"/>
            <a:ext cx="4714869" cy="409352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1A0C8E-B9F0-C8A0-7A87-A97B78C1C48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8079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9A9DDD-8FD5-2897-8DC9-1CEC88541C50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4714876" cy="1122374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99AB-4423-4AFC-BA85-5F70033F1076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496190"/>
            <a:ext cx="4672584" cy="372681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02" y="1001715"/>
            <a:ext cx="5652463" cy="522128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BC9BBD-1994-9D19-11C8-FD27039C6338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7585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681CC6-0816-FBB5-F117-CE232D15B0DE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328495" cy="1127759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56CF-865A-4DF6-93CB-5342FE600906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4328495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1001713"/>
            <a:ext cx="6209054" cy="5221287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4B8C12-E10A-C714-D6A0-BA32E2C7271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4353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5"/>
            <a:ext cx="5955028" cy="5477511"/>
          </a:xfrm>
        </p:spPr>
        <p:txBody>
          <a:bodyPr anchor="b">
            <a:normAutofit/>
          </a:bodyPr>
          <a:lstStyle>
            <a:lvl1pPr>
              <a:defRPr sz="7200" b="0" i="0">
                <a:latin typeface="+mj-lt"/>
                <a:ea typeface="Dotum" panose="020B0600000101010101" pitchFamily="34" charset="-127"/>
                <a:cs typeface="Noto Sans Kannada Thin" panose="020B02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341E3BD6-1BE7-4293-98B0-C8B456DEC98E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5403" y="-1"/>
            <a:ext cx="5131677" cy="6222999"/>
          </a:xfrm>
          <a:blipFill dpi="0" rotWithShape="1">
            <a:blip r:embed="rId2">
              <a:alphaModFix amt="60000"/>
            </a:blip>
            <a:srcRect/>
            <a:stretch>
              <a:fillRect l="-686" t="2" b="-4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FA8915-517E-32B2-6836-7A69DEF7C849}"/>
              </a:ext>
            </a:extLst>
          </p:cNvPr>
          <p:cNvCxnSpPr>
            <a:cxnSpLocks/>
          </p:cNvCxnSpPr>
          <p:nvPr userDrawn="1"/>
        </p:nvCxnSpPr>
        <p:spPr>
          <a:xfrm>
            <a:off x="70603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76B2467-9468-3DE8-CA1C-7B68F7ED9A67}"/>
              </a:ext>
            </a:extLst>
          </p:cNvPr>
          <p:cNvCxnSpPr>
            <a:cxnSpLocks/>
          </p:cNvCxnSpPr>
          <p:nvPr userDrawn="1"/>
        </p:nvCxnSpPr>
        <p:spPr>
          <a:xfrm>
            <a:off x="0" y="164150"/>
            <a:ext cx="70603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7414" y="6375748"/>
            <a:ext cx="4847572" cy="363255"/>
          </a:xfrm>
        </p:spPr>
        <p:txBody>
          <a:bodyPr anchor="ctr">
            <a:norm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>
              <a:defRPr sz="1600" b="0" i="0">
                <a:latin typeface="Univers Light" panose="020B0403020202020204" pitchFamily="34" charset="0"/>
              </a:defRPr>
            </a:lvl2pPr>
            <a:lvl3pPr>
              <a:defRPr sz="1600" b="0" i="0">
                <a:latin typeface="Univers Light" panose="020B0403020202020204" pitchFamily="34" charset="0"/>
              </a:defRPr>
            </a:lvl3pPr>
            <a:lvl4pPr>
              <a:defRPr sz="1600" b="0" i="0">
                <a:latin typeface="Univers Light" panose="020B0403020202020204" pitchFamily="34" charset="0"/>
              </a:defRPr>
            </a:lvl4pPr>
            <a:lvl5pPr>
              <a:defRPr sz="1600" b="0" i="0">
                <a:latin typeface="Univers Light" panose="020B04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22991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13C676-72E3-B810-A6B9-DCE36B8778A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8507528C-7021-C7A4-B156-08D83A3A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0" y="5109525"/>
            <a:ext cx="10367905" cy="120719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29A1B-A295-4715-B77A-F33006A42EEB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88E26B-9247-68F3-E9B8-157E22E9714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86730A0-A69C-6FA3-06BC-632301E15F2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340489"/>
            <a:ext cx="10367349" cy="3388035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423298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F240C4-9480-994E-0BD5-BF7BE95F9F7B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0" y="5109525"/>
            <a:ext cx="10367905" cy="120719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D6C5-FCE0-436F-BDB9-607AA1896A18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340489"/>
            <a:ext cx="10367349" cy="3388035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547AA0-CA68-609A-06D4-5F771838B5D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7481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8C624E-4F6C-E890-10DF-FE279DA2597D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20D33D3A-063E-24F3-6815-CC483F3BF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0" y="5109525"/>
            <a:ext cx="10367905" cy="120719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5A51-DB18-40F8-9807-F5A86B7E570D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D9BA66-49B9-422C-E28F-BA9E9DB6469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20ABC85-9587-24D5-E6BE-4DBE5CA569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340489"/>
            <a:ext cx="10367349" cy="3388035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667156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D627006-2F17-8195-85F1-6A04C935CD0A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CB96-76D1-4464-9253-520F75095DE4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424374" cy="52212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1" cap="all" baseline="0"/>
            </a:lvl1pPr>
            <a:lvl2pPr marL="228600" indent="0">
              <a:lnSpc>
                <a:spcPct val="100000"/>
              </a:lnSpc>
              <a:buNone/>
              <a:defRPr sz="4000" b="1" cap="all" baseline="0"/>
            </a:lvl2pPr>
            <a:lvl3pPr marL="457200" indent="0">
              <a:lnSpc>
                <a:spcPct val="100000"/>
              </a:lnSpc>
              <a:buNone/>
              <a:defRPr sz="4000" b="1" cap="all" baseline="0"/>
            </a:lvl3pPr>
            <a:lvl4pPr marL="685800" indent="0">
              <a:lnSpc>
                <a:spcPct val="100000"/>
              </a:lnSpc>
              <a:buNone/>
              <a:defRPr sz="4000" b="1" cap="all" baseline="0"/>
            </a:lvl4pPr>
            <a:lvl5pPr marL="914400" indent="0">
              <a:lnSpc>
                <a:spcPct val="100000"/>
              </a:lnSpc>
              <a:buNone/>
              <a:defRPr sz="4000" b="1" cap="all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DC5F9A-93BE-3155-B9FF-4F2B904E7ED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4600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1D5172-97DD-EE7A-066E-A8782AEFC90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96" y="-1133856"/>
            <a:ext cx="10652760" cy="100133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8BC6-0973-431F-9F88-90604F102123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9396" y="1001715"/>
            <a:ext cx="9459008" cy="53780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93CE3A-3702-5441-A16B-15475B1AC32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91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5B07A5-D0B6-BEDF-13F7-7E32618B677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309F-82F1-48B4-8AF1-7FAFA4EA46A8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3479" y="1001713"/>
            <a:ext cx="10924473" cy="537806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2pPr>
            <a:lvl3pPr marL="4572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3pPr>
            <a:lvl4pPr marL="6858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4pPr>
            <a:lvl5pPr marL="9144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71C1F5-4C28-1974-E5FE-84A75C271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7650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518A1F-ACCA-80D1-B725-434280AEC75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9" y="5907727"/>
            <a:ext cx="9980960" cy="38100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7C51-8093-4086-9EBD-6F9D3CF38435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7"/>
            <a:ext cx="9980960" cy="3726808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DBAF72-4C6A-14D9-5801-64F0FA350F7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9051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D47CB2-2DC0-2D1C-3E20-3B23C0394451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815584"/>
            <a:ext cx="10923925" cy="511644"/>
          </a:xfrm>
        </p:spPr>
        <p:txBody>
          <a:bodyPr anchor="b">
            <a:no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B3AEC4-477A-480C-8C3E-559E8B429188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2416"/>
            <a:ext cx="10923925" cy="4037312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5DE24C-5070-BB46-4081-8ED244198E0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516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708A38-78BC-D3CE-5C55-65C094C8935A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37" y="5749160"/>
            <a:ext cx="8956676" cy="567558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3BA6-8D49-4675-9508-BB867C793A49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037984" cy="3726810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108F76-E7E3-1812-8331-DCE59FFE0DF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1454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3CF370-3CA5-B9C3-AA2C-1D52A27AD18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10923934" cy="11277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8E83-499B-42C0-A29C-116A7958FAB2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29474"/>
            <a:ext cx="5266090" cy="40935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886" y="2129473"/>
            <a:ext cx="5266078" cy="409352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A0E66B-621F-DCB6-E24E-748318E12F2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156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A96DE7-ACFB-A025-20F2-1C9A4CEF7566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68897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FD23-2163-447C-A80D-D0B4B313F4F9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472" y="1685735"/>
            <a:ext cx="5266644" cy="81045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596" y="2496190"/>
            <a:ext cx="5265520" cy="372681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85735"/>
            <a:ext cx="5271464" cy="81045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496190"/>
            <a:ext cx="5271464" cy="372681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C723C3-DA4A-8D71-987B-EB7E7A74D1E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846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41C8-6351-7BB4-B97D-32DF6F45DBC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3" cy="11277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27C-C7F8-47B0-9A1C-DEAC93AC4235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8218CD-6934-8D18-A575-7C745D80A6C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0586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E09A4A-7256-DFB0-F197-FAC31C991665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669C-B2F2-4540-973C-9431C4193843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71AA78-5D18-EE68-E9E7-A1075C78BC2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1823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6"/>
            <a:ext cx="4328496" cy="1122374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AE40-9A04-413D-8631-F7A90F9EBCFC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4A6C7F-9167-3CFF-8E30-53AE9D6BB738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0" y="2496190"/>
            <a:ext cx="4328506" cy="372681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910" y="1001715"/>
            <a:ext cx="6209053" cy="522128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C0A275-A2A5-8AD0-2E0F-DDE194CF8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1108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3771899" cy="1875474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4C3A-EE25-431B-80B1-4EF91AFC3103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9" y="3242949"/>
            <a:ext cx="3771899" cy="306325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E95682-83E4-B8FD-0229-98470A1CACC8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7" y="634999"/>
            <a:ext cx="6595437" cy="558800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2BD7F5-CDD3-75CC-75F0-0D3B429420E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0980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373816"/>
            <a:ext cx="8481399" cy="1607128"/>
          </a:xfrm>
        </p:spPr>
        <p:txBody>
          <a:bodyPr anchor="b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4C3B674-A5BF-456A-8269-F8CA9F763AF0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4F35B0-78B0-CF96-BDA9-3D1E19B0636E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81" y="3615051"/>
            <a:ext cx="10367898" cy="260794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6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FE6CEC-AEBC-8860-A62E-637765B0DE2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631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756098"/>
            <a:ext cx="10923925" cy="2595476"/>
          </a:xfrm>
        </p:spPr>
        <p:txBody>
          <a:bodyPr anchor="b">
            <a:noAutofit/>
          </a:bodyPr>
          <a:lstStyle>
            <a:lvl1pPr>
              <a:defRPr sz="4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31587E-E768-0BED-F16B-618390A49DB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9D3C1B-3A72-4E86-BA17-923EE76E5763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485" y="4732574"/>
            <a:ext cx="6595990" cy="1605164"/>
          </a:xfrm>
        </p:spPr>
        <p:txBody>
          <a:bodyPr anchor="b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2pPr>
            <a:lvl3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3pPr>
            <a:lvl4pPr marL="6858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4pPr>
            <a:lvl5pPr marL="9144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29D384-6BDA-A5B3-C1ED-7DADE965436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66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" y="6492513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67304" y="2231454"/>
            <a:ext cx="4564376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532352" y="5260879"/>
            <a:ext cx="1494475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fld id="{652F8955-0F19-465D-B095-4EFD5ED08188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2129474"/>
            <a:ext cx="10923934" cy="409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62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82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5"/>
            <a:ext cx="5955028" cy="5477511"/>
          </a:xfrm>
        </p:spPr>
        <p:txBody>
          <a:bodyPr/>
          <a:lstStyle/>
          <a:p>
            <a:r>
              <a:rPr lang="en-US" b="1" dirty="0"/>
              <a:t>Bright Coffee Shop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0EF92AAA-69F5-4BBD-D336-59ACECD4452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" r="1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7414" y="6375748"/>
            <a:ext cx="4847572" cy="363255"/>
          </a:xfrm>
        </p:spPr>
        <p:txBody>
          <a:bodyPr>
            <a:normAutofit lnSpcReduction="10000"/>
          </a:bodyPr>
          <a:lstStyle/>
          <a:p>
            <a:r>
              <a:rPr lang="en-US"/>
              <a:t>Presented by Ellis Turner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619" y="1017363"/>
            <a:ext cx="4796545" cy="15033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transactions to decisions</a:t>
            </a:r>
            <a:br>
              <a:rPr lang="en-US" b="1" dirty="0"/>
            </a:br>
            <a:r>
              <a:rPr lang="en-US" b="1" dirty="0"/>
              <a:t>Source</a:t>
            </a:r>
            <a:br>
              <a:rPr lang="en-US" b="1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97480-562D-362F-4FFD-70F352A1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30805-9EDF-DFE1-AE27-78BEC692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pic>
        <p:nvPicPr>
          <p:cNvPr id="8" name="Picture Placeholder 7" descr="A white vase with dried flowers">
            <a:extLst>
              <a:ext uri="{FF2B5EF4-FFF2-40B4-BE49-F238E27FC236}">
                <a16:creationId xmlns:a16="http://schemas.microsoft.com/office/drawing/2014/main" id="{AEA16DDC-C63C-0A75-89CD-9003DA6F199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50619" y="2694039"/>
            <a:ext cx="5418594" cy="3146598"/>
          </a:xfrm>
        </p:spPr>
        <p:txBody>
          <a:bodyPr anchor="ctr">
            <a:normAutofit/>
          </a:bodyPr>
          <a:lstStyle/>
          <a:p>
            <a:r>
              <a:rPr lang="en-US" dirty="0"/>
              <a:t>Excel sales export → CSV</a:t>
            </a:r>
            <a:br>
              <a:rPr lang="en-US" dirty="0"/>
            </a:br>
            <a:r>
              <a:rPr lang="en-US" b="1" dirty="0"/>
              <a:t>ETL</a:t>
            </a:r>
            <a:br>
              <a:rPr lang="en-US" b="1" dirty="0"/>
            </a:br>
            <a:r>
              <a:rPr lang="en-US" dirty="0"/>
              <a:t>Fix </a:t>
            </a:r>
            <a:r>
              <a:rPr lang="en-US" dirty="0" err="1"/>
              <a:t>unit_price</a:t>
            </a:r>
            <a:r>
              <a:rPr lang="en-US" dirty="0"/>
              <a:t> commas, add time buckets, </a:t>
            </a:r>
            <a:r>
              <a:rPr lang="en-US" dirty="0" err="1"/>
              <a:t>total_amount</a:t>
            </a:r>
            <a:br>
              <a:rPr lang="en-US" dirty="0"/>
            </a:br>
            <a:r>
              <a:rPr lang="en-US" b="1" dirty="0"/>
              <a:t>Databricks</a:t>
            </a:r>
            <a:br>
              <a:rPr lang="en-US" b="1" dirty="0"/>
            </a:br>
            <a:r>
              <a:rPr lang="en-US" dirty="0"/>
              <a:t>Stored &amp; grouped with SQL</a:t>
            </a:r>
            <a:br>
              <a:rPr lang="en-US" dirty="0"/>
            </a:br>
            <a:r>
              <a:rPr lang="en-US" b="1" dirty="0"/>
              <a:t>Insights</a:t>
            </a:r>
            <a:br>
              <a:rPr lang="en-US" b="1" dirty="0"/>
            </a:br>
            <a:r>
              <a:rPr lang="en-US" dirty="0"/>
              <a:t>Pivots, dashboards, this deck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6B45-59A7-C589-9ECA-BA4BE7D7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3"/>
            <a:ext cx="5702371" cy="4855527"/>
          </a:xfrm>
        </p:spPr>
        <p:txBody>
          <a:bodyPr anchor="ctr">
            <a:normAutofit/>
          </a:bodyPr>
          <a:lstStyle/>
          <a:p>
            <a:r>
              <a:rPr lang="en-US"/>
              <a:t>OVERVIEW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B7AB3-FA55-AF58-6303-A6C6B762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47D68-CFC1-8AF4-FE7E-36D912B1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1A708B0-571F-6C71-86D9-AAF69F212CB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12096455"/>
              </p:ext>
            </p:extLst>
          </p:nvPr>
        </p:nvGraphicFramePr>
        <p:xfrm>
          <a:off x="7224097" y="1001713"/>
          <a:ext cx="4333859" cy="48555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629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NAVIGATING THE LANDSCAPE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32F8-E21D-68DC-2A6B-6A44F011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TRENDS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B0929-CD1B-0E1A-BF53-A7DB452F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5B5EE-EC32-8941-B9F3-74604A298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F83F2-AAC5-A5A2-512A-01B647657F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C3E63-211A-BA72-7F7D-8870F352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076AAA4-3D6E-F222-5A44-140CA0FFA0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0177992"/>
              </p:ext>
            </p:extLst>
          </p:nvPr>
        </p:nvGraphicFramePr>
        <p:xfrm>
          <a:off x="634026" y="2129471"/>
          <a:ext cx="5088348" cy="40935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A7EA16A-B0AD-043E-0649-AE67A7B95C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6895556"/>
              </p:ext>
            </p:extLst>
          </p:nvPr>
        </p:nvGraphicFramePr>
        <p:xfrm>
          <a:off x="6291880" y="1985325"/>
          <a:ext cx="5266078" cy="4366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68735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6C6DB8-3FC9-C305-0440-3BB83263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5104D-69A8-58FF-868A-7F17105C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9E7F2-0D61-4491-A0F7-F96292DA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36CAB-BB4B-BDCA-63F6-F77BA904E5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791" y="2889506"/>
            <a:ext cx="10924473" cy="53780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 Best and worst sellers Top 5</a:t>
            </a:r>
          </a:p>
          <a:p>
            <a:endParaRPr lang="en-US" sz="2800" b="1" dirty="0"/>
          </a:p>
          <a:p>
            <a:r>
              <a:rPr lang="en-US" sz="2400" dirty="0"/>
              <a:t>Barista Espresso</a:t>
            </a:r>
            <a:r>
              <a:rPr lang="en-US" sz="2400" b="1" dirty="0"/>
              <a:t>R91.4K</a:t>
            </a:r>
            <a:endParaRPr lang="en-US" sz="2400" dirty="0"/>
          </a:p>
          <a:p>
            <a:r>
              <a:rPr lang="en-US" sz="2400" dirty="0"/>
              <a:t>Brewed Chai tea</a:t>
            </a:r>
            <a:r>
              <a:rPr lang="en-US" sz="2400" b="1" dirty="0"/>
              <a:t>R77.1K</a:t>
            </a:r>
            <a:endParaRPr lang="en-US" sz="2400" dirty="0"/>
          </a:p>
          <a:p>
            <a:r>
              <a:rPr lang="en-US" sz="2400" dirty="0"/>
              <a:t>Hot chocolate</a:t>
            </a:r>
            <a:r>
              <a:rPr lang="en-US" sz="2400" b="1" dirty="0"/>
              <a:t>R72.4K</a:t>
            </a:r>
            <a:endParaRPr lang="en-US" sz="2400" dirty="0"/>
          </a:p>
          <a:p>
            <a:r>
              <a:rPr lang="en-US" sz="2400" dirty="0"/>
              <a:t>Gourmet brewed coffee</a:t>
            </a:r>
            <a:r>
              <a:rPr lang="en-US" sz="2400" b="1" dirty="0"/>
              <a:t>R70.0K</a:t>
            </a:r>
            <a:endParaRPr lang="en-US" sz="2400" dirty="0"/>
          </a:p>
          <a:p>
            <a:r>
              <a:rPr lang="en-US" sz="2400" dirty="0"/>
              <a:t>Brewed Black tea</a:t>
            </a:r>
            <a:r>
              <a:rPr lang="en-US" sz="2400" b="1" dirty="0"/>
              <a:t>R47.9K</a:t>
            </a:r>
            <a:endParaRPr lang="en-US" sz="2400" dirty="0"/>
          </a:p>
          <a:p>
            <a:r>
              <a:rPr lang="en-US" sz="2400" b="1" dirty="0"/>
              <a:t>Bottom 5</a:t>
            </a:r>
          </a:p>
          <a:p>
            <a:r>
              <a:rPr lang="en-US" sz="2400" dirty="0"/>
              <a:t>Green beans</a:t>
            </a:r>
            <a:r>
              <a:rPr lang="en-US" sz="2400" b="1" dirty="0"/>
              <a:t>R1.3K</a:t>
            </a:r>
            <a:endParaRPr lang="en-US" sz="2400" dirty="0"/>
          </a:p>
          <a:p>
            <a:r>
              <a:rPr lang="en-US" sz="2400" dirty="0"/>
              <a:t>Green tea</a:t>
            </a:r>
            <a:r>
              <a:rPr lang="en-US" sz="2400" b="1" dirty="0"/>
              <a:t>R1.5K</a:t>
            </a:r>
            <a:endParaRPr lang="en-US" sz="2400" dirty="0"/>
          </a:p>
          <a:p>
            <a:r>
              <a:rPr lang="en-US" sz="2400" dirty="0"/>
              <a:t>Organic Chocolate</a:t>
            </a:r>
            <a:r>
              <a:rPr lang="en-US" sz="2400" b="1" dirty="0"/>
              <a:t>R1.7K</a:t>
            </a:r>
            <a:endParaRPr lang="en-US" sz="2400" dirty="0"/>
          </a:p>
          <a:p>
            <a:r>
              <a:rPr lang="en-US" sz="2400" dirty="0"/>
              <a:t>Sugar free syrup</a:t>
            </a:r>
            <a:r>
              <a:rPr lang="en-US" sz="2400" b="1" dirty="0"/>
              <a:t>R2.3K</a:t>
            </a:r>
            <a:endParaRPr lang="en-US" sz="2400" dirty="0"/>
          </a:p>
          <a:p>
            <a:r>
              <a:rPr lang="en-US" sz="2400" dirty="0"/>
              <a:t>Black tea</a:t>
            </a:r>
            <a:r>
              <a:rPr lang="en-US" sz="2400" b="1" dirty="0"/>
              <a:t>R2.7K</a:t>
            </a:r>
            <a:endParaRPr lang="en-US" sz="2400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95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16D-2F4A-F938-64C3-F8B6808F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50D46-3D0A-D56B-B660-3906C581B9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15EF4-E43B-5657-1598-A18FA57949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CE1C32-E3BE-E820-0C0D-D82105EBFBD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01</a:t>
            </a:r>
          </a:p>
          <a:p>
            <a:r>
              <a:rPr lang="en-US" b="1" dirty="0"/>
              <a:t>Fill the afternoon</a:t>
            </a:r>
          </a:p>
          <a:p>
            <a:r>
              <a:rPr lang="en-US" dirty="0"/>
              <a:t>Sales halve after 11am. Run 12–5pm drink + bakery bundles and happy-hour offers.</a:t>
            </a:r>
          </a:p>
          <a:p>
            <a:r>
              <a:rPr lang="en-US" dirty="0"/>
              <a:t>02</a:t>
            </a:r>
          </a:p>
          <a:p>
            <a:r>
              <a:rPr lang="en-US" b="1" dirty="0"/>
              <a:t>Stock the winners</a:t>
            </a:r>
          </a:p>
          <a:p>
            <a:r>
              <a:rPr lang="en-US" dirty="0"/>
              <a:t>Never run out of espresso drinks, chai, hot chocolate and gourmet coffee — they lead sales.</a:t>
            </a:r>
          </a:p>
          <a:p>
            <a:r>
              <a:rPr lang="en-US" dirty="0"/>
              <a:t>03</a:t>
            </a:r>
          </a:p>
          <a:p>
            <a:r>
              <a:rPr lang="en-US" b="1" dirty="0"/>
              <a:t>Fix the laggards</a:t>
            </a:r>
          </a:p>
          <a:p>
            <a:r>
              <a:rPr lang="en-US" dirty="0"/>
              <a:t>Bundle or sample green tea, organic chocolate and green beans — or drop them from the menu.</a:t>
            </a:r>
          </a:p>
        </p:txBody>
      </p:sp>
      <p:pic>
        <p:nvPicPr>
          <p:cNvPr id="12" name="Picture Placeholder 11" descr="A chair and table on a balcony">
            <a:extLst>
              <a:ext uri="{FF2B5EF4-FFF2-40B4-BE49-F238E27FC236}">
                <a16:creationId xmlns:a16="http://schemas.microsoft.com/office/drawing/2014/main" id="{97CF5FE8-A2FD-C460-9918-438118B2F24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B2E2E-1DBF-8F39-D390-5B7B1720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51FD-4248-F8D7-2767-83A26B34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B827F-BD81-5C69-CCAA-F9B2FDA393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7F78-306A-E51A-C044-68CF7777815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E9DF19-1F4F-7A87-C6A3-B5A467C0D61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01</a:t>
            </a:r>
          </a:p>
          <a:p>
            <a:r>
              <a:rPr lang="en-US" b="1" dirty="0"/>
              <a:t>Automate reporting</a:t>
            </a:r>
          </a:p>
          <a:p>
            <a:r>
              <a:rPr lang="en-US" dirty="0"/>
              <a:t>Daily sales dashboard refreshed straight from Databricks.</a:t>
            </a:r>
          </a:p>
          <a:p>
            <a:r>
              <a:rPr lang="en-US" dirty="0"/>
              <a:t>02</a:t>
            </a:r>
          </a:p>
          <a:p>
            <a:r>
              <a:rPr lang="en-US" b="1" dirty="0"/>
              <a:t>Compare locations</a:t>
            </a:r>
          </a:p>
          <a:p>
            <a:r>
              <a:rPr lang="en-US" dirty="0"/>
              <a:t>Track each store side by side as the business grows.</a:t>
            </a:r>
          </a:p>
          <a:p>
            <a:r>
              <a:rPr lang="en-US" dirty="0"/>
              <a:t>03</a:t>
            </a:r>
          </a:p>
          <a:p>
            <a:r>
              <a:rPr lang="en-US" b="1" dirty="0"/>
              <a:t>Loyalty </a:t>
            </a:r>
            <a:r>
              <a:rPr lang="en-US" b="1" dirty="0" err="1"/>
              <a:t>programme</a:t>
            </a:r>
            <a:endParaRPr lang="en-US" b="1" dirty="0"/>
          </a:p>
          <a:p>
            <a:r>
              <a:rPr lang="en-US" dirty="0"/>
              <a:t>Reward morning regulars and pull them back in the afternoon.</a:t>
            </a:r>
          </a:p>
        </p:txBody>
      </p:sp>
      <p:pic>
        <p:nvPicPr>
          <p:cNvPr id="12" name="Picture Placeholder 11" descr="A chair and table on a balcony">
            <a:extLst>
              <a:ext uri="{FF2B5EF4-FFF2-40B4-BE49-F238E27FC236}">
                <a16:creationId xmlns:a16="http://schemas.microsoft.com/office/drawing/2014/main" id="{BA43C5D5-B634-2D67-C7EE-BF2FA41771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803893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1CBA-BF0E-B09D-1B6D-7B68C95F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92FE0-4319-A77C-57A1-4733ED75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E8512-F192-F148-7D3C-9D173B81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FAF19-45F3-90C6-51C9-DEA3089E4D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Let’s discuss questions </a:t>
            </a:r>
          </a:p>
          <a:p>
            <a:pPr>
              <a:spcBef>
                <a:spcPts val="0"/>
              </a:spcBef>
            </a:pPr>
            <a:r>
              <a:rPr lang="en-US" dirty="0"/>
              <a:t>as a team.</a:t>
            </a:r>
          </a:p>
        </p:txBody>
      </p:sp>
      <p:pic>
        <p:nvPicPr>
          <p:cNvPr id="8" name="Picture Placeholder 7" descr="A living room with a white sofa and a coffee table">
            <a:extLst>
              <a:ext uri="{FF2B5EF4-FFF2-40B4-BE49-F238E27FC236}">
                <a16:creationId xmlns:a16="http://schemas.microsoft.com/office/drawing/2014/main" id="{4CEF7857-464F-3B7A-9327-7E3B813EEC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843793409"/>
      </p:ext>
    </p:extLst>
  </p:cSld>
  <p:clrMapOvr>
    <a:masterClrMapping/>
  </p:clrMapOvr>
</p:sld>
</file>

<file path=ppt/theme/theme1.xml><?xml version="1.0" encoding="utf-8"?>
<a:theme xmlns:a="http://schemas.openxmlformats.org/drawingml/2006/main" name="JapandiLinearHarmony">
  <a:themeElements>
    <a:clrScheme name="Japandi Linear Harmony">
      <a:dk1>
        <a:srgbClr val="000000"/>
      </a:dk1>
      <a:lt1>
        <a:srgbClr val="FFFFFF"/>
      </a:lt1>
      <a:dk2>
        <a:srgbClr val="2C3932"/>
      </a:dk2>
      <a:lt2>
        <a:srgbClr val="FEFDFB"/>
      </a:lt2>
      <a:accent1>
        <a:srgbClr val="ECE7DA"/>
      </a:accent1>
      <a:accent2>
        <a:srgbClr val="8A835B"/>
      </a:accent2>
      <a:accent3>
        <a:srgbClr val="D7D9CF"/>
      </a:accent3>
      <a:accent4>
        <a:srgbClr val="A39382"/>
      </a:accent4>
      <a:accent5>
        <a:srgbClr val="87A3BF"/>
      </a:accent5>
      <a:accent6>
        <a:srgbClr val="343826"/>
      </a:accent6>
      <a:hlink>
        <a:srgbClr val="169C9A"/>
      </a:hlink>
      <a:folHlink>
        <a:srgbClr val="E15C3D"/>
      </a:folHlink>
    </a:clrScheme>
    <a:fontScheme name="Custom 24">
      <a:majorFont>
        <a:latin typeface="Nunito Sans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pandi linear_Marketing Presentation_win32_SD_V9" id="{57601A81-7059-40B9-B27D-CFA4D443B3D6}" vid="{9FBC8E92-EE9C-44F9-AA8A-E22EDCB5B7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purl.org/dc/dcmitype/"/>
    <ds:schemaRef ds:uri="16c05727-aa75-4e4a-9b5f-8a80a1165891"/>
    <ds:schemaRef ds:uri="http://purl.org/dc/elements/1.1/"/>
    <ds:schemaRef ds:uri="http://www.w3.org/XML/1998/namespace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{BFA352AD-B310-4CDF-B05C-BB8526A739A6}9a8ca73c-9ec2-4fbe-abc4-e368f4cb1a3b-TF575ccade-082f-4251-9f61-e4053e242b00_win32</Template>
  <TotalTime>24</TotalTime>
  <Words>248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Nunito Sans</vt:lpstr>
      <vt:lpstr>Univers Light</vt:lpstr>
      <vt:lpstr>JapandiLinearHarmony</vt:lpstr>
      <vt:lpstr>Bright Coffee Shop</vt:lpstr>
      <vt:lpstr>transactions to decisions Source </vt:lpstr>
      <vt:lpstr>OVERVIEW</vt:lpstr>
      <vt:lpstr>NAVIGATING THE LANDSCAPE</vt:lpstr>
      <vt:lpstr>TRENDS</vt:lpstr>
      <vt:lpstr>.</vt:lpstr>
      <vt:lpstr>recommendations</vt:lpstr>
      <vt:lpstr>ANALYSIS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IGNATIUS JANSON JUNIOR MHLANGA</dc:creator>
  <cp:lastModifiedBy>IGNATIUS JANSON JUNIOR MHLANGA</cp:lastModifiedBy>
  <cp:revision>1</cp:revision>
  <dcterms:created xsi:type="dcterms:W3CDTF">2026-09-29T21:29:39Z</dcterms:created>
  <dcterms:modified xsi:type="dcterms:W3CDTF">2026-09-29T21:53:59Z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